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Roboto Mon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regular.fntdata"/><Relationship Id="rId25" Type="http://schemas.openxmlformats.org/officeDocument/2006/relationships/slide" Target="slides/slide20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bold.fntdata"/><Relationship Id="rId12" Type="http://schemas.openxmlformats.org/officeDocument/2006/relationships/slide" Target="slides/slide7.xml"/><Relationship Id="rId34" Type="http://schemas.openxmlformats.org/officeDocument/2006/relationships/font" Target="fonts/RobotoMon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Mon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156b373bbc5f1b18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156b373bbc5f1b18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156b373bbc5f1b1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156b373bbc5f1b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156b373bbc5f1b18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156b373bbc5f1b18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156b373bbc5f1b18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156b373bbc5f1b18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156b373bbc5f1b18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h156b373bbc5f1b18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156b373bbc5f1b18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h156b373bbc5f1b18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156b373bbc5f1b18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h156b373bbc5f1b18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156b373bbc5f1b18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h156b373bbc5f1b18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h156b373bbc5f1b18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h156b373bbc5f1b18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156b373bbc5f1b18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h156b373bbc5f1b18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56b373bbc5f1b18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156b373bbc5f1b18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156b373bbc5f1b18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156b373bbc5f1b18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156b373bbc5f1b18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h156b373bbc5f1b18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156b373bbc5f1b18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h156b373bbc5f1b18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156b373bbc5f1b18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156b373bbc5f1b18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156b373bbc5f1b18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h156b373bbc5f1b18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156b373bbc5f1b18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h156b373bbc5f1b18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h156b373bbc5f1b18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h156b373bbc5f1b18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156b373bbc5f1b18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h156b373bbc5f1b18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h156b373bbc5f1b18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h156b373bbc5f1b18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10" name="Google Shape;10;p2"/>
          <p:cNvPicPr preferRelativeResize="0"/>
          <p:nvPr/>
        </p:nvPicPr>
        <p:blipFill rotWithShape="1">
          <a:blip r:embed="rId2">
            <a:alphaModFix/>
          </a:blip>
          <a:srcRect b="23591" l="0" r="0" t="21800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3" name="Google Shape;13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" name="Google Shape;18;p2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aleway"/>
                <a:ea typeface="Raleway"/>
                <a:cs typeface="Raleway"/>
                <a:sym typeface="Raleway"/>
              </a:rPr>
              <a:t>Confidencial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aleway"/>
                <a:ea typeface="Raleway"/>
                <a:cs typeface="Raleway"/>
                <a:sym typeface="Raleway"/>
              </a:rPr>
              <a:t>Personalizado para </a:t>
            </a:r>
            <a:r>
              <a:rPr b="1" lang="es" sz="600">
                <a:latin typeface="Raleway"/>
                <a:ea typeface="Raleway"/>
                <a:cs typeface="Raleway"/>
                <a:sym typeface="Raleway"/>
              </a:rPr>
              <a:t>Nombre de la empresa</a:t>
            </a:r>
            <a:endParaRPr sz="6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latin typeface="Raleway"/>
                <a:ea typeface="Raleway"/>
                <a:cs typeface="Raleway"/>
                <a:sym typeface="Raleway"/>
              </a:rPr>
              <a:t>Versión 1.0</a:t>
            </a:r>
            <a:endParaRPr b="1" sz="6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lt1">
  <p:cSld name="TITLE_1">
    <p:bg>
      <p:bgPr>
        <a:solidFill>
          <a:schemeClr val="lt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22" name="Google Shape;22;p3"/>
          <p:cNvPicPr preferRelativeResize="0"/>
          <p:nvPr/>
        </p:nvPicPr>
        <p:blipFill rotWithShape="1">
          <a:blip r:embed="rId2">
            <a:alphaModFix/>
          </a:blip>
          <a:srcRect b="23591" l="0" r="0" t="21800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5" name="Google Shape;25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" name="Google Shape;31;p3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3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" name="Google Shape;33;p3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" name="Google Shape;38;p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4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" name="Google Shape;42;p4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" name="Google Shape;43;p4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" name="Google Shape;53;p5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" name="Google Shape;54;p5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5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only">
  <p:cSld name="TITLE_AND_BODY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59" name="Google Shape;59;p6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6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6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" name="Google Shape;62;p6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6"/>
          <p:cNvSpPr txBox="1"/>
          <p:nvPr>
            <p:ph idx="1" type="body"/>
          </p:nvPr>
        </p:nvSpPr>
        <p:spPr>
          <a:xfrm>
            <a:off x="729450" y="1068650"/>
            <a:ext cx="7688700" cy="103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2">
  <p:cSld name="TITLE_AND_BODY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31891705.jpg" id="65" name="Google Shape;65;p7"/>
          <p:cNvPicPr preferRelativeResize="0"/>
          <p:nvPr/>
        </p:nvPicPr>
        <p:blipFill rotWithShape="1">
          <a:blip r:embed="rId2">
            <a:alphaModFix/>
          </a:blip>
          <a:srcRect b="11971" l="0" r="0" t="11971"/>
          <a:stretch/>
        </p:blipFill>
        <p:spPr>
          <a:xfrm>
            <a:off x="0" y="487825"/>
            <a:ext cx="9143999" cy="4655673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rgbClr val="FFFFFF"/>
                </a:solidFill>
              </a:defRPr>
            </a:lvl1pPr>
            <a:lvl2pPr lvl="1" rtl="0">
              <a:buNone/>
              <a:defRPr>
                <a:solidFill>
                  <a:srgbClr val="FFFFFF"/>
                </a:solidFill>
              </a:defRPr>
            </a:lvl2pPr>
            <a:lvl3pPr lvl="2" rtl="0">
              <a:buNone/>
              <a:defRPr>
                <a:solidFill>
                  <a:srgbClr val="FFFFFF"/>
                </a:solidFill>
              </a:defRPr>
            </a:lvl3pPr>
            <a:lvl4pPr lvl="3" rtl="0">
              <a:buNone/>
              <a:defRPr>
                <a:solidFill>
                  <a:srgbClr val="FFFFFF"/>
                </a:solidFill>
              </a:defRPr>
            </a:lvl4pPr>
            <a:lvl5pPr lvl="4" rtl="0">
              <a:buNone/>
              <a:defRPr>
                <a:solidFill>
                  <a:srgbClr val="FFFFFF"/>
                </a:solidFill>
              </a:defRPr>
            </a:lvl5pPr>
            <a:lvl6pPr lvl="5" rtl="0">
              <a:buNone/>
              <a:defRPr>
                <a:solidFill>
                  <a:srgbClr val="FFFFFF"/>
                </a:solidFill>
              </a:defRPr>
            </a:lvl6pPr>
            <a:lvl7pPr lvl="6" rtl="0">
              <a:buNone/>
              <a:defRPr>
                <a:solidFill>
                  <a:srgbClr val="FFFFFF"/>
                </a:solidFill>
              </a:defRPr>
            </a:lvl7pPr>
            <a:lvl8pPr lvl="7" rtl="0">
              <a:buNone/>
              <a:defRPr>
                <a:solidFill>
                  <a:srgbClr val="FFFFFF"/>
                </a:solidFill>
              </a:defRPr>
            </a:lvl8pPr>
            <a:lvl9pPr lvl="8" rtl="0"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8" name="Google Shape;68;p7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" name="Google Shape;69;p7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7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7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7"/>
          <p:cNvSpPr txBox="1"/>
          <p:nvPr>
            <p:ph type="title"/>
          </p:nvPr>
        </p:nvSpPr>
        <p:spPr>
          <a:xfrm>
            <a:off x="729450" y="2056375"/>
            <a:ext cx="58875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" name="Google Shape;75;p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6" name="Google Shape;76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8" name="Google Shape;78;p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8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8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8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8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3" name="Google Shape;93;p9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9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9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9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" name="Google Shape;99;p1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0" name="Google Shape;100;p1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10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5" name="Google Shape;105;p10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" name="Google Shape;106;p10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0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0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11" name="Google Shape;11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15" name="Google Shape;115;p11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p11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1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1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2" name="Google Shape;122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5" name="Google Shape;125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26" name="Google Shape;126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8" name="Google Shape;128;p12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9" name="Google Shape;129;p12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2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2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34" name="Google Shape;134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" name="Google Shape;136;p13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3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" name="Google Shape;138;p13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1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41" name="Google Shape;141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14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6" name="Google Shape;146;p14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" name="Google Shape;147;p14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4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4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15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" name="Google Shape;154;p15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" name="Google Shape;155;p15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C">
  <p:cSld name="SECTION_HEADER_1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1308150" y="1318650"/>
            <a:ext cx="71100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226550" y="78500"/>
            <a:ext cx="998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Confidencial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1296767" y="78500"/>
            <a:ext cx="2100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Personalizado para </a:t>
            </a:r>
            <a:r>
              <a:rPr b="1" lang="es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Nombre de la empresa</a:t>
            </a:r>
            <a:endParaRPr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8213935" y="78500"/>
            <a:ext cx="7059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Versión 1.0</a:t>
            </a:r>
            <a:endParaRPr b="1" sz="6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alt1">
  <p:cSld name="SECTION_HEADER_2">
    <p:bg>
      <p:bgPr>
        <a:solidFill>
          <a:srgbClr val="434343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64" name="Google Shape;164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1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9" name="Google Shape;169;p17"/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17"/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7"/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hyperlink" Target="http://kaggle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/>
        </p:nvSpPr>
        <p:spPr>
          <a:xfrm>
            <a:off x="689200" y="1390925"/>
            <a:ext cx="74550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RADIOGRAFÍA</a:t>
            </a:r>
            <a:r>
              <a:rPr b="1" lang="es"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DEL MERCADO LABORAL EN DATOS E INTELIGENCIA ARTIFICIAL</a:t>
            </a:r>
            <a:endParaRPr b="1" sz="4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6963900" y="819800"/>
            <a:ext cx="100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794425" y="358725"/>
            <a:ext cx="70101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DEFINICIÓN</a:t>
            </a:r>
            <a:r>
              <a:rPr lang="es" sz="3000"/>
              <a:t> DEL PROYECTO</a:t>
            </a:r>
            <a:endParaRPr sz="3000"/>
          </a:p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35579"/>
          <a:stretch/>
        </p:blipFill>
        <p:spPr>
          <a:xfrm>
            <a:off x="738700" y="1594200"/>
            <a:ext cx="8103701" cy="137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3203850" y="3074450"/>
            <a:ext cx="3173400" cy="19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LinkedIn Job Postings (2023 - 2024) </a:t>
            </a:r>
            <a:r>
              <a:rPr b="1" lang="es" sz="1800">
                <a:solidFill>
                  <a:schemeClr val="lt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kaggle</a:t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120.000 OFERTAS EEUU</a:t>
            </a:r>
            <a:endParaRPr sz="1800"/>
          </a:p>
        </p:txBody>
      </p:sp>
      <p:sp>
        <p:nvSpPr>
          <p:cNvPr id="185" name="Google Shape;185;p19"/>
          <p:cNvSpPr txBox="1"/>
          <p:nvPr/>
        </p:nvSpPr>
        <p:spPr>
          <a:xfrm>
            <a:off x="6285325" y="3074450"/>
            <a:ext cx="2153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modelo capaz de estimar el salario de una oferta de empleo </a:t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646925" y="3074450"/>
            <a:ext cx="2317500" cy="17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ofertas de empleo  </a:t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salario </a:t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1590525" y="3546350"/>
            <a:ext cx="348000" cy="6615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DATASET Y ESTRUCTURA DE LOS DATOS</a:t>
            </a:r>
            <a:endParaRPr sz="3000"/>
          </a:p>
        </p:txBody>
      </p:sp>
      <p:pic>
        <p:nvPicPr>
          <p:cNvPr id="193" name="Google Shape;193;p20" title="modelo relacion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425" y="1270975"/>
            <a:ext cx="7703773" cy="381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/>
          <p:nvPr>
            <p:ph type="title"/>
          </p:nvPr>
        </p:nvSpPr>
        <p:spPr>
          <a:xfrm>
            <a:off x="794425" y="358725"/>
            <a:ext cx="80754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CALIDAD Y TRATAMIENTO DE LOS DATOS</a:t>
            </a:r>
            <a:endParaRPr sz="3000"/>
          </a:p>
        </p:txBody>
      </p:sp>
      <p:sp>
        <p:nvSpPr>
          <p:cNvPr id="199" name="Google Shape;199;p21"/>
          <p:cNvSpPr txBox="1"/>
          <p:nvPr/>
        </p:nvSpPr>
        <p:spPr>
          <a:xfrm>
            <a:off x="3907275" y="1020225"/>
            <a:ext cx="15837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VALORES NULOS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00" name="Google Shape;2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825" y="1355975"/>
            <a:ext cx="7785626" cy="312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794425" y="4543775"/>
            <a:ext cx="4405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Solo 36.000 ofertas con información salarial asociada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/>
          <p:nvPr>
            <p:ph type="title"/>
          </p:nvPr>
        </p:nvSpPr>
        <p:spPr>
          <a:xfrm>
            <a:off x="794425" y="358725"/>
            <a:ext cx="7920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CALIDAD Y TRATAMIENTO DE LOS DATOS</a:t>
            </a:r>
            <a:endParaRPr sz="3000"/>
          </a:p>
        </p:txBody>
      </p:sp>
      <p:sp>
        <p:nvSpPr>
          <p:cNvPr id="207" name="Google Shape;207;p22"/>
          <p:cNvSpPr txBox="1"/>
          <p:nvPr/>
        </p:nvSpPr>
        <p:spPr>
          <a:xfrm>
            <a:off x="308475" y="1443100"/>
            <a:ext cx="2569200" cy="24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INCONSISTENCIAS (state)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5472550" y="1367400"/>
            <a:ext cx="3078000" cy="3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OUTLIERS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 txBox="1"/>
          <p:nvPr>
            <p:ph type="title"/>
          </p:nvPr>
        </p:nvSpPr>
        <p:spPr>
          <a:xfrm>
            <a:off x="581325" y="358725"/>
            <a:ext cx="83298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RESULTADOS DEL </a:t>
            </a:r>
            <a:r>
              <a:rPr lang="es" sz="3000"/>
              <a:t>ANÁLISIS</a:t>
            </a:r>
            <a:r>
              <a:rPr lang="es" sz="3000"/>
              <a:t> EXPLORATORIO</a:t>
            </a:r>
            <a:endParaRPr sz="3000"/>
          </a:p>
        </p:txBody>
      </p:sp>
      <p:sp>
        <p:nvSpPr>
          <p:cNvPr id="214" name="Google Shape;214;p23"/>
          <p:cNvSpPr txBox="1"/>
          <p:nvPr/>
        </p:nvSpPr>
        <p:spPr>
          <a:xfrm>
            <a:off x="630200" y="3303975"/>
            <a:ext cx="166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TOP BENEFICIOS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5367650" y="1422500"/>
            <a:ext cx="166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TOP SKILLS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630200" y="1582825"/>
            <a:ext cx="166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TOP INDUSTRIAS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5367650" y="3303975"/>
            <a:ext cx="1667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TOP </a:t>
            </a: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TÉRMINOS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23" name="Google Shape;223;p24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5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29" name="Google Shape;229;p25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35" name="Google Shape;235;p26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41" name="Google Shape;241;p27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47" name="Google Shape;247;p28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53" name="Google Shape;253;p29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59" name="Google Shape;259;p30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1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65" name="Google Shape;265;p31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71" name="Google Shape;271;p32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3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77" name="Google Shape;277;p33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83" name="Google Shape;283;p34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89" name="Google Shape;289;p35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295" name="Google Shape;295;p36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"/>
          <p:cNvSpPr txBox="1"/>
          <p:nvPr>
            <p:ph type="title"/>
          </p:nvPr>
        </p:nvSpPr>
        <p:spPr>
          <a:xfrm>
            <a:off x="794425" y="358725"/>
            <a:ext cx="7635000" cy="6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TEXTO</a:t>
            </a:r>
            <a:endParaRPr sz="3000"/>
          </a:p>
        </p:txBody>
      </p:sp>
      <p:sp>
        <p:nvSpPr>
          <p:cNvPr id="301" name="Google Shape;301;p37"/>
          <p:cNvSpPr txBox="1"/>
          <p:nvPr/>
        </p:nvSpPr>
        <p:spPr>
          <a:xfrm>
            <a:off x="846550" y="1651650"/>
            <a:ext cx="7848300" cy="31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TEXTO</a:t>
            </a:r>
            <a:endParaRPr b="1" sz="12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